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86" r:id="rId1"/>
  </p:sldMasterIdLst>
  <p:sldIdLst>
    <p:sldId id="256" r:id="rId2"/>
    <p:sldId id="264" r:id="rId3"/>
    <p:sldId id="258" r:id="rId4"/>
    <p:sldId id="261" r:id="rId5"/>
    <p:sldId id="265" r:id="rId6"/>
    <p:sldId id="259" r:id="rId7"/>
    <p:sldId id="267" r:id="rId8"/>
    <p:sldId id="271" r:id="rId9"/>
    <p:sldId id="260" r:id="rId10"/>
    <p:sldId id="262" r:id="rId11"/>
    <p:sldId id="269" r:id="rId12"/>
    <p:sldId id="270" r:id="rId13"/>
    <p:sldId id="272" r:id="rId14"/>
    <p:sldId id="273" r:id="rId15"/>
    <p:sldId id="274" r:id="rId16"/>
    <p:sldId id="276" r:id="rId17"/>
    <p:sldId id="277" r:id="rId18"/>
    <p:sldId id="275" r:id="rId19"/>
    <p:sldId id="26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0000"/>
    <a:srgbClr val="660066"/>
    <a:srgbClr val="9E009E"/>
    <a:srgbClr val="8151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B4D3-E35F-B0A7-ED30-E1EBE90BA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E22C6-FC6A-273C-606D-A2DAC3398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4D644-F006-A928-244E-DA01A1A0F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C254C-9AD9-3FD3-875B-B41F0CD6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3B3D1-C2C3-2A0C-80B1-0E83174A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49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129B-9038-D5E3-D08D-68B8BB58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90CF7-528D-0685-0439-5C3629B3D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95821-8ED5-007E-4DC3-F42FF574E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46B54-5D03-F53F-CC21-486CC8CFA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F6ED2-C4AB-9558-F5A0-26332147A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692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BAF68-AA83-0DAA-E4BF-DCBA45A52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549C4-67E0-FF44-9094-041F9400A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5B79D-6303-B0C0-848F-688D6264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4E60C-D266-BBC9-2AAF-6D7AC3138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7D5F7-46F2-8270-E934-218B4800F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4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961DE-20BB-D1C3-8AC8-0A314CA7F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0EC53-60D7-4100-84FB-58447FED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06187-1735-AEA4-DDA6-3C104B0CBA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14F4A-00AA-87CB-B8E5-25F5ECD39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E2E68-1DCC-9F97-89CC-00BF96AB6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63205-4B3E-E036-8B73-019A76A4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682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81A98-C795-AF75-C8B7-12D13CA1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14CFD-01AF-8520-636F-593B5412C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BCFEDE-EA9B-5902-8B8A-1637E056C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4C2520-7477-D76C-A4CB-2DFC6AFE2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147E1E-B015-43F8-5962-42D03198A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034BF-491C-371F-7029-D4E9965D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DBB94-E12F-07B9-0F11-8C6836954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05AFA-7AF1-2523-A36B-FDBC77E50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69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29616-C1D5-E842-27DE-87444ADCF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BE463C-6BD1-95C4-3920-C1D1F455A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4AD79-6A15-BD26-705B-2A30CB33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4ADD1E-0E50-18BE-E947-906D44A9B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04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79A7B-5D65-2C42-AAA8-467D5FDD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EDC456-F1CD-9C8E-F2EA-F45AF4EA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8D7DF-0E86-2C35-1A21-BEC081B3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034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13EC-12B4-608A-68FC-C2E7DB45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3E1EB-FE64-E8B9-833E-6B243B17F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7E1188-FABB-53CD-D160-41FBCF89EB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5B192-BA2B-B10F-C7C8-F56D9D1E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34579F-CEF2-D46A-79AE-3F97269CE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44A2A-FE86-749B-4393-ED228051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13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A6C3-FA7D-CA66-7349-66AF7E07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B53053-82F1-D42C-9D96-81D4A2BAEF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7FD86-7715-3D95-7DAF-CA665C415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530773-F8A8-0912-A846-529772DA1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4D6EF-56E5-3D5A-BE3B-4A67B2367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49EF5-0C20-0FC2-5256-4F871E94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58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DC581-596F-65E3-111B-94ABD2DB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FE410-CD26-D614-E9B6-0A5DCE2E7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DD5A-501C-DED5-7743-817A2A652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41E12-F7BF-6BF4-FF85-44CED877C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50F8-FA8A-BFFB-4728-02933184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17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87713-4034-F2A5-265B-E8F237280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4666FE-BBA6-D121-0DF6-666BE60D6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E61F1-5C47-9B36-46A2-D30F5126B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E6A5C-221D-4BE7-3EDB-E29D5FE6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070A-8DE2-EAD4-4A6E-C641AD5DB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090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051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187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3CB27F-6864-ACC7-EA81-966CE879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C42EA6-6EF9-C9E7-C048-7BE6DA92C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04FEE-8409-20C4-A7BF-066559750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5871B-D663-4AA0-8EF1-28DA4CB8A788}" type="datetimeFigureOut">
              <a:rPr lang="en-IN" smtClean="0"/>
              <a:t>16-09-2026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98C076-E14D-8745-DE2B-7919A529E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09D965-3CD6-EF38-AC1F-BA92F6652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4DE11-0B7C-4F23-82A7-4986E2EAEFE5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11" descr="KL University Hyderabad">
            <a:extLst>
              <a:ext uri="{FF2B5EF4-FFF2-40B4-BE49-F238E27FC236}">
                <a16:creationId xmlns:a16="http://schemas.microsoft.com/office/drawing/2014/main" id="{54CBCDD5-E62F-3293-20CE-3B689DFB2CD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1EBC7B-FA54-792B-0C43-1A1C1D13EE5F}"/>
              </a:ext>
            </a:extLst>
          </p:cNvPr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F0BB20-CDEB-04BA-1109-D5075E8A581C}"/>
              </a:ext>
            </a:extLst>
          </p:cNvPr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A811288-108C-6FBF-2452-58043AC37C0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73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3069" y="1232258"/>
            <a:ext cx="9700727" cy="1389643"/>
          </a:xfr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anchor="t" anchorCtr="1">
            <a:no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>
              <a:lnSpc>
                <a:spcPct val="100000"/>
              </a:lnSpc>
            </a:pPr>
            <a:r>
              <a:rPr lang="en-IN" sz="4400" b="1" cap="none" dirty="0">
                <a:ln/>
                <a:solidFill>
                  <a:srgbClr val="66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AEGIS LEARN – A Generative AI Personalized Learning Framework</a:t>
            </a:r>
            <a:endParaRPr lang="en-US" sz="4400" b="1" cap="none" dirty="0">
              <a:ln/>
              <a:solidFill>
                <a:srgbClr val="66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81432" y="3318747"/>
            <a:ext cx="7829136" cy="2999792"/>
          </a:xfrm>
        </p:spPr>
        <p:txBody>
          <a:bodyPr wrap="square" lIns="0" tIns="0" rIns="0" bIns="0">
            <a:normAutofit fontScale="85000" lnSpcReduction="20000"/>
          </a:bodyPr>
          <a:lstStyle/>
          <a:p>
            <a:pPr algn="ctr">
              <a:spcBef>
                <a:spcPts val="0"/>
              </a:spcBef>
            </a:pPr>
            <a:endParaRPr lang="en-US" sz="2200" b="1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b="1" dirty="0">
                <a:solidFill>
                  <a:srgbClr val="C0000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SECTION: 7  CLUSTER – 3</a:t>
            </a:r>
          </a:p>
          <a:p>
            <a:pPr algn="ctr">
              <a:spcBef>
                <a:spcPts val="0"/>
              </a:spcBef>
            </a:pPr>
            <a:endParaRPr lang="en-US" sz="2200" b="1" dirty="0">
              <a:solidFill>
                <a:srgbClr val="C00000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b="1" dirty="0">
                <a:solidFill>
                  <a:srgbClr val="C00000"/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Group - 5</a:t>
            </a:r>
          </a:p>
          <a:p>
            <a:pPr algn="ctr">
              <a:spcBef>
                <a:spcPts val="0"/>
              </a:spcBef>
            </a:pPr>
            <a:endParaRPr lang="en-US" sz="1600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2420030400 –  Masuma Fathema</a:t>
            </a: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2420030467 – K V S Jaswanth</a:t>
            </a: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2420030521 – Madhav Ghattamaneni</a:t>
            </a:r>
            <a:endParaRPr lang="en-US" sz="4000" cap="all" dirty="0">
              <a:solidFill>
                <a:srgbClr val="C00000"/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2420030568  - Avinash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Yarukala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endParaRPr lang="en-US" sz="2200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Under the guidance of:</a:t>
            </a:r>
          </a:p>
          <a:p>
            <a:pPr algn="ctr">
              <a:spcBef>
                <a:spcPts val="0"/>
              </a:spcBef>
            </a:pPr>
            <a:r>
              <a:rPr lang="en-US" sz="2200" dirty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  <a:cs typeface="Times New Roman" panose="02020603050405020304" pitchFamily="18" charset="0"/>
              </a:rPr>
              <a:t>Dr.K.Swanthana</a:t>
            </a:r>
            <a:endParaRPr lang="en-US" sz="2200" dirty="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endParaRPr lang="en-US" sz="2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9A6BA-DA13-DBE5-CB68-09719FE56814}"/>
              </a:ext>
            </a:extLst>
          </p:cNvPr>
          <p:cNvSpPr txBox="1"/>
          <p:nvPr/>
        </p:nvSpPr>
        <p:spPr>
          <a:xfrm>
            <a:off x="10744200" y="22174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5F8B9A-330F-59D4-819E-DEFB66B29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" y="388782"/>
            <a:ext cx="1790678" cy="6669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926" y="1176385"/>
            <a:ext cx="10920145" cy="4835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Traditional e-learning platforms provide the same learning content to all students.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Students have different learning speeds, knowledge levels, and learning styles.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Existing AI tools may generate hallucinated or inaccurate information.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Most systems lack curriculum-specific and personalized learning support.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Limited support for coding examples, adaptive quizzes, and higher-order thinking skills.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9C0C7-B501-8129-8DB9-D89244D38516}"/>
              </a:ext>
            </a:extLst>
          </p:cNvPr>
          <p:cNvSpPr txBox="1"/>
          <p:nvPr/>
        </p:nvSpPr>
        <p:spPr>
          <a:xfrm>
            <a:off x="734229" y="1380109"/>
            <a:ext cx="1015252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develop</a:t>
            </a:r>
            <a:r>
              <a:rPr lang="en-IN" sz="2800" dirty="0"/>
              <a:t> a personalized AI learning framework.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generate</a:t>
            </a:r>
            <a:r>
              <a:rPr lang="en-IN" sz="2800" dirty="0"/>
              <a:t> customized study notes using Generative AI.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implement</a:t>
            </a:r>
            <a:r>
              <a:rPr lang="en-IN" sz="2800" dirty="0"/>
              <a:t> AI-based coding examples and explanations.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generate</a:t>
            </a:r>
            <a:r>
              <a:rPr lang="en-IN" sz="2800" dirty="0"/>
              <a:t> adaptive quizzes based on learning levels.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integrate</a:t>
            </a:r>
            <a:r>
              <a:rPr lang="en-IN" sz="2800" dirty="0"/>
              <a:t> Bloom's Taxonomy into learning assessment.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/>
              <a:t>To optimize</a:t>
            </a:r>
            <a:r>
              <a:rPr lang="en-IN" sz="2800" dirty="0"/>
              <a:t> learning outcomes through personalization.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LITERATURE SURVEY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57D294-4EF5-9250-4EC7-680E3889E442}"/>
              </a:ext>
            </a:extLst>
          </p:cNvPr>
          <p:cNvSpPr txBox="1"/>
          <p:nvPr/>
        </p:nvSpPr>
        <p:spPr>
          <a:xfrm>
            <a:off x="421105" y="5433870"/>
            <a:ext cx="116060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 Display" panose="020B0004020202020204" pitchFamily="34" charset="0"/>
              </a:rPr>
              <a:t>Observation</a:t>
            </a:r>
            <a:endParaRPr lang="en-IN" dirty="0">
              <a:latin typeface="Aptos Display" panose="020B0004020202020204" pitchFamily="34" charset="0"/>
            </a:endParaRPr>
          </a:p>
          <a:p>
            <a:r>
              <a:rPr lang="en-IN" dirty="0">
                <a:latin typeface="Aptos Display" panose="020B0004020202020204" pitchFamily="34" charset="0"/>
              </a:rPr>
              <a:t>Existing research focuses on content generation or tutoring individually, with limited emphasis on personalized learning using RAG and Bloom's Taxonomy.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535B298-1539-A4F3-DBB1-25B1CDD4C5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92" r="590"/>
          <a:stretch>
            <a:fillRect/>
          </a:stretch>
        </p:blipFill>
        <p:spPr>
          <a:xfrm>
            <a:off x="69926" y="1212980"/>
            <a:ext cx="12122074" cy="38722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0916" y="245736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5069" y="1306188"/>
            <a:ext cx="10328988" cy="4272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dirty="0">
                <a:latin typeface="Aptos Display" panose="020B0004020202020204" pitchFamily="34" charset="0"/>
              </a:rPr>
              <a:t>Existing systems lack: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Personalized learning based on student profiles.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Integration of RAG with educational content generation.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Bloom's Taxonomy-based assessments.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AI-generated coding practice.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Curriculum-aligned learning resources for undergraduate Computer Science students</a:t>
            </a:r>
            <a:r>
              <a:rPr lang="en-IN" sz="2800" dirty="0">
                <a:latin typeface="Aptos Display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PROPOSED FRAMEWORK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BE87B0-4123-92E2-28DB-8B0467B18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07" b="3313"/>
          <a:stretch>
            <a:fillRect/>
          </a:stretch>
        </p:blipFill>
        <p:spPr>
          <a:xfrm>
            <a:off x="0" y="1303953"/>
            <a:ext cx="12101603" cy="425009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31D33F-5EDC-934D-3C8D-99174D8B20E4}"/>
              </a:ext>
            </a:extLst>
          </p:cNvPr>
          <p:cNvSpPr txBox="1"/>
          <p:nvPr/>
        </p:nvSpPr>
        <p:spPr>
          <a:xfrm>
            <a:off x="2920916" y="245736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INNOVATION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9291F-9121-F6A9-47BA-C27E5C33B67F}"/>
              </a:ext>
            </a:extLst>
          </p:cNvPr>
          <p:cNvSpPr txBox="1"/>
          <p:nvPr/>
        </p:nvSpPr>
        <p:spPr>
          <a:xfrm>
            <a:off x="941899" y="1270186"/>
            <a:ext cx="7035773" cy="363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Personalized learning framework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Retrieval-Augmented Generation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Prompt Engineering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Curriculum-aligned content generation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Bloom's Taxonomy integration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AI-generated coding examples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46D31-25C5-6E42-A0E7-8A1501288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7117" y="1212980"/>
            <a:ext cx="12207582" cy="444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201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CAA874-8D33-97AB-A2B8-6F8A0DF8882B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E5A1A4-4E77-8983-605C-EACE95C1DF54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CREATIVITY &amp; NOVELTY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41A66-EACC-604C-ACD0-B408E939A302}"/>
              </a:ext>
            </a:extLst>
          </p:cNvPr>
          <p:cNvSpPr txBox="1"/>
          <p:nvPr/>
        </p:nvSpPr>
        <p:spPr>
          <a:xfrm>
            <a:off x="6618421" y="981504"/>
            <a:ext cx="4331760" cy="363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b="1" dirty="0">
                <a:latin typeface="Aptos Display" panose="020B0004020202020204" pitchFamily="34" charset="0"/>
              </a:rPr>
              <a:t>Creativity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Personalized study plans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Adaptive quizzes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Dynamic coding examples </a:t>
            </a:r>
          </a:p>
          <a:p>
            <a:pPr marL="457200" lvl="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Topic-specific learning</a:t>
            </a:r>
          </a:p>
          <a:p>
            <a:pPr lvl="0" algn="just">
              <a:lnSpc>
                <a:spcPct val="150000"/>
              </a:lnSpc>
            </a:pPr>
            <a:r>
              <a:rPr lang="en-IN" sz="2600" dirty="0">
                <a:latin typeface="Aptos Display" panose="020B0004020202020204" pitchFamily="34" charset="0"/>
              </a:rPr>
              <a:t>recommendations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47C87B-4A09-C84E-DD0D-1AFB5B2D6F62}"/>
              </a:ext>
            </a:extLst>
          </p:cNvPr>
          <p:cNvSpPr txBox="1"/>
          <p:nvPr/>
        </p:nvSpPr>
        <p:spPr>
          <a:xfrm>
            <a:off x="851487" y="916189"/>
            <a:ext cx="4475585" cy="5436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600" b="1" dirty="0">
                <a:latin typeface="Aptos Display" panose="020B0004020202020204" pitchFamily="34" charset="0"/>
              </a:rPr>
              <a:t>Novelty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Combines Generative AI, RAG, Prompt Engineering, and Bloom's Taxonomy.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Generates personalized educational content based on student learning level.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Designed specifically for undergraduate CSE students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6BF324-1873-A014-71C4-20CBD86B5282}"/>
              </a:ext>
            </a:extLst>
          </p:cNvPr>
          <p:cNvCxnSpPr>
            <a:cxnSpLocks/>
          </p:cNvCxnSpPr>
          <p:nvPr/>
        </p:nvCxnSpPr>
        <p:spPr>
          <a:xfrm>
            <a:off x="6018245" y="806448"/>
            <a:ext cx="0" cy="62848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61DCC6-7BC6-B801-F1BE-96255851576E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8E2B56-FC24-96D7-8B65-905220525357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FEASIBILITY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4EF44-EBB5-4A69-FD83-3058B5123491}"/>
              </a:ext>
            </a:extLst>
          </p:cNvPr>
          <p:cNvSpPr txBox="1"/>
          <p:nvPr/>
        </p:nvSpPr>
        <p:spPr>
          <a:xfrm>
            <a:off x="1085394" y="862431"/>
            <a:ext cx="9129415" cy="652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600" b="1" dirty="0">
                <a:latin typeface="Aptos Display" panose="020B0004020202020204" pitchFamily="34" charset="0"/>
              </a:rPr>
              <a:t>Technologies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Frontend - </a:t>
            </a:r>
            <a:r>
              <a:rPr lang="en-IN" sz="2600" dirty="0">
                <a:latin typeface="Aptos Display" panose="020B0004020202020204" pitchFamily="34" charset="0"/>
              </a:rPr>
              <a:t>React.js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Backend</a:t>
            </a:r>
            <a:r>
              <a:rPr lang="en-IN" sz="2600" dirty="0">
                <a:latin typeface="Aptos Display" panose="020B0004020202020204" pitchFamily="34" charset="0"/>
              </a:rPr>
              <a:t> - </a:t>
            </a:r>
            <a:r>
              <a:rPr lang="en-IN" sz="2600" dirty="0" err="1">
                <a:latin typeface="Aptos Display" panose="020B0004020202020204" pitchFamily="34" charset="0"/>
              </a:rPr>
              <a:t>FastAPI</a:t>
            </a:r>
            <a:r>
              <a:rPr lang="en-IN" sz="2600" dirty="0">
                <a:latin typeface="Aptos Display" panose="020B0004020202020204" pitchFamily="34" charset="0"/>
              </a:rPr>
              <a:t>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Database</a:t>
            </a:r>
            <a:r>
              <a:rPr lang="en-IN" sz="2600" dirty="0">
                <a:latin typeface="Aptos Display" panose="020B0004020202020204" pitchFamily="34" charset="0"/>
              </a:rPr>
              <a:t> - MongoDB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Vector Database </a:t>
            </a:r>
            <a:r>
              <a:rPr lang="en-IN" sz="2600" dirty="0">
                <a:latin typeface="Aptos Display" panose="020B0004020202020204" pitchFamily="34" charset="0"/>
              </a:rPr>
              <a:t>– FAISS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b="1" dirty="0">
                <a:latin typeface="Aptos Display" panose="020B0004020202020204" pitchFamily="34" charset="0"/>
              </a:rPr>
              <a:t>Embedding Model </a:t>
            </a:r>
            <a:r>
              <a:rPr lang="en-IN" sz="2600" dirty="0">
                <a:latin typeface="Aptos Display" panose="020B0004020202020204" pitchFamily="34" charset="0"/>
              </a:rPr>
              <a:t>- Sentence Transformers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Aptos Display" panose="020B0004020202020204" pitchFamily="34" charset="0"/>
              </a:rPr>
              <a:t>LLM - </a:t>
            </a:r>
            <a:r>
              <a:rPr lang="en-IN" sz="2800" dirty="0">
                <a:latin typeface="Aptos Display" panose="020B0004020202020204" pitchFamily="34" charset="0"/>
              </a:rPr>
              <a:t>GPT-4 / Llama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b="1" dirty="0">
                <a:latin typeface="Aptos Display" panose="020B0004020202020204" pitchFamily="34" charset="0"/>
              </a:rPr>
              <a:t>Knowledge Sources – </a:t>
            </a:r>
            <a:r>
              <a:rPr lang="en-IN" sz="2800" dirty="0">
                <a:latin typeface="Aptos Display" panose="020B0004020202020204" pitchFamily="34" charset="0"/>
              </a:rPr>
              <a:t>OpenStax, NCERT, Khan Academy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600" dirty="0">
              <a:latin typeface="Aptos Display" panose="020B00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IN" sz="2600" dirty="0">
                <a:latin typeface="Aptos Display" panose="020B0004020202020204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endParaRPr lang="en-IN" sz="2600" dirty="0">
              <a:latin typeface="Aptos Display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1E8C0-8489-F8EF-3810-BD067621E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C2C2EB-F9E6-0B82-05D3-C3081D8F938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F615B-31FC-5EF3-B49E-C441BBB89A45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889BB-2174-60DF-A285-A74242405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04" y="1133183"/>
            <a:ext cx="97536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68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A0E2B-20BA-006B-6522-484C5587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B4264B-B876-4FED-23D9-499A15705DF1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8827A-E68D-5E41-5FF4-D88986C364D3}"/>
              </a:ext>
            </a:extLst>
          </p:cNvPr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EXPECTED OUTCOME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FC7F9B-BD73-7F98-FFFE-5B0F6F8E8F87}"/>
              </a:ext>
            </a:extLst>
          </p:cNvPr>
          <p:cNvSpPr txBox="1"/>
          <p:nvPr/>
        </p:nvSpPr>
        <p:spPr>
          <a:xfrm>
            <a:off x="1024036" y="1264213"/>
            <a:ext cx="6097554" cy="363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Personalized study notes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AI-generated coding examples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Adaptive quizzes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Bloom's Taxonomy-based assessments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Improved learning experience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600" dirty="0">
                <a:latin typeface="Aptos Display" panose="020B0004020202020204" pitchFamily="34" charset="0"/>
              </a:rPr>
              <a:t>Enhanced conceptual understanding</a:t>
            </a:r>
          </a:p>
        </p:txBody>
      </p:sp>
    </p:spTree>
    <p:extLst>
      <p:ext uri="{BB962C8B-B14F-4D97-AF65-F5344CB8AC3E}">
        <p14:creationId xmlns:p14="http://schemas.microsoft.com/office/powerpoint/2010/main" val="4269913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51BBE-7EA9-B14C-48C0-C92B34E51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3DDB1CF-41CA-728E-E20F-FE63948F67E0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D42067-9AB5-3BB7-C797-7A9AD2AA0D93}"/>
              </a:ext>
            </a:extLst>
          </p:cNvPr>
          <p:cNvSpPr txBox="1"/>
          <p:nvPr/>
        </p:nvSpPr>
        <p:spPr>
          <a:xfrm>
            <a:off x="2660072" y="236024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DFDED3-CE5E-4C71-0051-4318F748D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52" y="1260336"/>
            <a:ext cx="10987895" cy="433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763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3FD7-EB44-E848-80BC-B7396F51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4E9DB94-1661-A4A5-081D-949817C3312F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2E808-3AEB-632D-4DB0-E92A70724C97}"/>
              </a:ext>
            </a:extLst>
          </p:cNvPr>
          <p:cNvSpPr txBox="1"/>
          <p:nvPr/>
        </p:nvSpPr>
        <p:spPr>
          <a:xfrm>
            <a:off x="2660072" y="236024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SYSTEM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C7B01-4455-90FF-A5A2-3DB068EF2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225" y="1097078"/>
            <a:ext cx="9571549" cy="466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006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03994-9D08-79D2-773A-2005D5AE6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F4D2CAB-0DE8-90AA-7283-EFA62FF8B56D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050D0E-B1F9-3ADE-DB7E-7F89D337B68E}"/>
              </a:ext>
            </a:extLst>
          </p:cNvPr>
          <p:cNvSpPr txBox="1"/>
          <p:nvPr/>
        </p:nvSpPr>
        <p:spPr>
          <a:xfrm>
            <a:off x="2660072" y="236024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2CBECD-50AC-5534-8300-5BE27EEA7C30}"/>
              </a:ext>
            </a:extLst>
          </p:cNvPr>
          <p:cNvSpPr txBox="1"/>
          <p:nvPr/>
        </p:nvSpPr>
        <p:spPr>
          <a:xfrm>
            <a:off x="5173024" y="1186786"/>
            <a:ext cx="2612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FRONTEND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49585B-D89D-8D82-B6F9-2AA9C19A5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08" b="5543"/>
          <a:stretch>
            <a:fillRect/>
          </a:stretch>
        </p:blipFill>
        <p:spPr>
          <a:xfrm>
            <a:off x="1137777" y="1660848"/>
            <a:ext cx="991644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826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78A2C-0283-903A-4EC2-23CF6238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711DC6D-5F23-5E77-E163-3B8D39DF3A3A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7B67B-F39D-8B81-680F-F29528940BF4}"/>
              </a:ext>
            </a:extLst>
          </p:cNvPr>
          <p:cNvSpPr txBox="1"/>
          <p:nvPr/>
        </p:nvSpPr>
        <p:spPr>
          <a:xfrm>
            <a:off x="2660072" y="236024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91ABF0-C400-6918-0CCE-97E0D0C4E6B6}"/>
              </a:ext>
            </a:extLst>
          </p:cNvPr>
          <p:cNvSpPr txBox="1"/>
          <p:nvPr/>
        </p:nvSpPr>
        <p:spPr>
          <a:xfrm>
            <a:off x="5173024" y="1186786"/>
            <a:ext cx="2612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FRONTEND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BFD03E-5D11-67E8-5790-3DA9AAC33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7" y="1556118"/>
            <a:ext cx="10049440" cy="45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99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5C2BB-A117-2F61-D51E-BBFF65244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9792E2-460B-119B-8033-FBF1152B564A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E3338-4E3C-5E06-4E2C-B87F42FFF732}"/>
              </a:ext>
            </a:extLst>
          </p:cNvPr>
          <p:cNvSpPr txBox="1"/>
          <p:nvPr/>
        </p:nvSpPr>
        <p:spPr>
          <a:xfrm>
            <a:off x="2660072" y="236024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3084D3-7546-5B52-D04A-15522D2E3DB0}"/>
              </a:ext>
            </a:extLst>
          </p:cNvPr>
          <p:cNvSpPr txBox="1"/>
          <p:nvPr/>
        </p:nvSpPr>
        <p:spPr>
          <a:xfrm>
            <a:off x="5173024" y="1186786"/>
            <a:ext cx="2612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FRONTEND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0D4C5B-2359-B9E4-0B27-4E24B18E6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1668656"/>
            <a:ext cx="10499321" cy="472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328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11377-DFAB-A4D6-1AA2-EF688315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3DC286-FA9B-3054-D4BF-7982EE685E31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EC5A-99FB-6459-A1FC-51D93E642AA8}"/>
              </a:ext>
            </a:extLst>
          </p:cNvPr>
          <p:cNvSpPr txBox="1"/>
          <p:nvPr/>
        </p:nvSpPr>
        <p:spPr>
          <a:xfrm>
            <a:off x="2660072" y="236024"/>
            <a:ext cx="6871855" cy="584775"/>
          </a:xfrm>
          <a:prstGeom prst="rect">
            <a:avLst/>
          </a:prstGeom>
          <a:solidFill>
            <a:srgbClr val="660066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2AE51-14D5-F892-7C43-45156ADF5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854" y="1085340"/>
            <a:ext cx="9974425" cy="53633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8F4650-BFD0-667C-00AE-63BD8374D240}"/>
              </a:ext>
            </a:extLst>
          </p:cNvPr>
          <p:cNvSpPr txBox="1"/>
          <p:nvPr/>
        </p:nvSpPr>
        <p:spPr>
          <a:xfrm>
            <a:off x="12493690" y="108235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045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6600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1586</TotalTime>
  <Words>354</Words>
  <Application>Microsoft Office PowerPoint</Application>
  <PresentationFormat>Widescreen</PresentationFormat>
  <Paragraphs>84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 Display</vt:lpstr>
      <vt:lpstr>Arial</vt:lpstr>
      <vt:lpstr>Calibri</vt:lpstr>
      <vt:lpstr>Calibri Light</vt:lpstr>
      <vt:lpstr>Candara</vt:lpstr>
      <vt:lpstr>Times New Roman</vt:lpstr>
      <vt:lpstr>Office Theme</vt:lpstr>
      <vt:lpstr>AEGIS LEARN – A Generative AI Personalized Learning Framework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Masuma Fathema</cp:lastModifiedBy>
  <cp:revision>35</cp:revision>
  <dcterms:created xsi:type="dcterms:W3CDTF">2024-08-29T05:25:00Z</dcterms:created>
  <dcterms:modified xsi:type="dcterms:W3CDTF">2026-09-16T14:23:53Z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